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Supply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Community (40%)</c:v>
                </c:pt>
                <c:pt idx="1">
                  <c:v>Team (25%)</c:v>
                </c:pt>
                <c:pt idx="2">
                  <c:v>Ecosystem (20%)</c:v>
                </c:pt>
                <c:pt idx="3">
                  <c:v>Investors (10%)</c:v>
                </c:pt>
                <c:pt idx="4">
                  <c:v>Liquidity (5%)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10058400" cy="22860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423160"/>
            <a:ext cx="9144000" cy="32004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</a:rPr>
              <a:t>VIVA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06B6D4"/>
                </a:solidFill>
              </a:rPr>
              <a:t>LIFE OPERATING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Full Architecture · 10 Microservices · 5 Smart Contracts · AI Twin · ZK-Proofs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46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React Native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9384" y="3246120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3246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Rust Gateway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55848" y="3246120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3246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Go Services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82312" y="3246120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3246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Python AI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08776" y="3246120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3246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Base L2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635240" y="3246120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3246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ZK Proofs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Messenger · Social · Marketplace · Dating · Health · AI Twin · Prediction Markets · Tokenized Identity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Base URL: api.viva.app  |  docker-compose up -d  |  npx expo start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37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</a:rPr>
              <a:t>SYSTEM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Full Stack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658368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21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MOBILE  (React Native + Expo SDK 52 + Re.Pack Module Federation)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896112"/>
            <a:ext cx="877824" cy="246888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96112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HomeCanvas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316736" y="896112"/>
            <a:ext cx="877824" cy="246888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6736" y="896112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Feed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249424" y="896112"/>
            <a:ext cx="877824" cy="246888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9424" y="896112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Chat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182112" y="896112"/>
            <a:ext cx="877824" cy="246888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896112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Market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114800" y="896112"/>
            <a:ext cx="877824" cy="246888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896112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Wallet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047488" y="896112"/>
            <a:ext cx="877824" cy="246888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896112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Dating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980176" y="896112"/>
            <a:ext cx="877824" cy="246888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0176" y="896112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Rooms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912864" y="896112"/>
            <a:ext cx="877824" cy="246888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2864" y="896112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Twin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845552" y="896112"/>
            <a:ext cx="877824" cy="246888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45552" y="896112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Health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0" y="1261872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371600" y="1444752"/>
            <a:ext cx="6400800" cy="612648"/>
          </a:xfrm>
          <a:prstGeom prst="rect">
            <a:avLst/>
          </a:prstGeom>
          <a:solidFill>
            <a:srgbClr val="1A233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148132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API GATEWAY  (Rust / Actix-web · 892K req/s · 2.1ms P99)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481328" y="1737360"/>
            <a:ext cx="1152144" cy="246888"/>
          </a:xfrm>
          <a:prstGeom prst="roundRect">
            <a:avLst>
              <a:gd name="adj" fmla="val 22222"/>
            </a:avLst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81328" y="1737360"/>
            <a:ext cx="1152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JWT Auth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724912" y="1737360"/>
            <a:ext cx="1152144" cy="246888"/>
          </a:xfrm>
          <a:prstGeom prst="roundRect">
            <a:avLst>
              <a:gd name="adj" fmla="val 22222"/>
            </a:avLst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24912" y="1737360"/>
            <a:ext cx="1152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Rate Limit (Redis)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968496" y="1737360"/>
            <a:ext cx="1152144" cy="246888"/>
          </a:xfrm>
          <a:prstGeom prst="roundRect">
            <a:avLst>
              <a:gd name="adj" fmla="val 22222"/>
            </a:avLst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68496" y="1737360"/>
            <a:ext cx="1152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V-Score Inject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212080" y="1737360"/>
            <a:ext cx="1152144" cy="246888"/>
          </a:xfrm>
          <a:prstGeom prst="roundRect">
            <a:avLst>
              <a:gd name="adj" fmla="val 22222"/>
            </a:avLst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1737360"/>
            <a:ext cx="1152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WS Upgrade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455664" y="1737360"/>
            <a:ext cx="1152144" cy="246888"/>
          </a:xfrm>
          <a:prstGeom prst="roundRect">
            <a:avLst>
              <a:gd name="adj" fmla="val 22222"/>
            </a:avLst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1737360"/>
            <a:ext cx="1152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Compress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72000" y="2176272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74320" y="2340864"/>
            <a:ext cx="8595360" cy="13533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368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</a:rPr>
              <a:t>MICROSERVICES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4048" y="2596896"/>
            <a:ext cx="1609344" cy="438912"/>
          </a:xfrm>
          <a:prstGeom prst="rect">
            <a:avLst/>
          </a:prstGeom>
          <a:solidFill>
            <a:srgbClr val="1A233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2633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messenger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38912" y="28346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:3001  Go/Gin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084832" y="2596896"/>
            <a:ext cx="1609344" cy="438912"/>
          </a:xfrm>
          <a:prstGeom prst="rect">
            <a:avLst/>
          </a:prstGeom>
          <a:solidFill>
            <a:srgbClr val="1A233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39696" y="2633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social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139696" y="28346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:3002  Go/Chi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785616" y="2596896"/>
            <a:ext cx="1609344" cy="438912"/>
          </a:xfrm>
          <a:prstGeom prst="rect">
            <a:avLst/>
          </a:prstGeom>
          <a:solidFill>
            <a:srgbClr val="1A2336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0" y="2633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</a:rPr>
              <a:t>marketplace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840480" y="28346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:3003  Rust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486400" y="2596896"/>
            <a:ext cx="1609344" cy="438912"/>
          </a:xfrm>
          <a:prstGeom prst="rect">
            <a:avLst/>
          </a:prstGeom>
          <a:solidFill>
            <a:srgbClr val="1A2336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41264" y="2633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</a:rPr>
              <a:t>finance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41264" y="28346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:3004  Rust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187184" y="2596896"/>
            <a:ext cx="1609344" cy="438912"/>
          </a:xfrm>
          <a:prstGeom prst="rect">
            <a:avLst/>
          </a:prstGeom>
          <a:solidFill>
            <a:srgbClr val="1A233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42048" y="2633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vscore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242048" y="28346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:3005  Python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84048" y="3108960"/>
            <a:ext cx="1609344" cy="438912"/>
          </a:xfrm>
          <a:prstGeom prst="rect">
            <a:avLst/>
          </a:prstGeom>
          <a:solidFill>
            <a:srgbClr val="1A233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31455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twin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38912" y="33467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:3006  Python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084832" y="3108960"/>
            <a:ext cx="1609344" cy="438912"/>
          </a:xfrm>
          <a:prstGeom prst="rect">
            <a:avLst/>
          </a:prstGeom>
          <a:solidFill>
            <a:srgbClr val="1A233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39696" y="31455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health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139696" y="33467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:3007  Python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785616" y="3108960"/>
            <a:ext cx="1609344" cy="438912"/>
          </a:xfrm>
          <a:prstGeom prst="rect">
            <a:avLst/>
          </a:prstGeom>
          <a:solidFill>
            <a:srgbClr val="1A233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0" y="31455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dating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840480" y="33467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:3008  Go/Chi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486400" y="3108960"/>
            <a:ext cx="1609344" cy="438912"/>
          </a:xfrm>
          <a:prstGeom prst="rect">
            <a:avLst/>
          </a:prstGeom>
          <a:solidFill>
            <a:srgbClr val="1A233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41264" y="31455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rooms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541264" y="33467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:3009  Go/Chi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7187184" y="3108960"/>
            <a:ext cx="1609344" cy="438912"/>
          </a:xfrm>
          <a:prstGeom prst="rect">
            <a:avLst/>
          </a:prstGeom>
          <a:solidFill>
            <a:srgbClr val="1A233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42048" y="31455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notifs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242048" y="33467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:3010  Python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74320" y="3749040"/>
            <a:ext cx="8595360" cy="804672"/>
          </a:xfrm>
          <a:prstGeom prst="rect">
            <a:avLst/>
          </a:prstGeom>
          <a:solidFill>
            <a:srgbClr val="0C1628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3776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</a:rPr>
              <a:t>INFRASTRUCTURE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11480" y="3977640"/>
            <a:ext cx="1591056" cy="502920"/>
          </a:xfrm>
          <a:prstGeom prst="roundRect">
            <a:avLst>
              <a:gd name="adj" fmla="val 10909"/>
            </a:avLst>
          </a:prstGeom>
          <a:solidFill>
            <a:srgbClr val="1A2336"/>
          </a:solidFill>
          <a:ln w="12700">
            <a:solidFill>
              <a:srgbClr val="1A233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1480" y="397764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PostgreSQL 15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+ TimescaleDB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93976" y="3977640"/>
            <a:ext cx="1591056" cy="502920"/>
          </a:xfrm>
          <a:prstGeom prst="roundRect">
            <a:avLst>
              <a:gd name="adj" fmla="val 10909"/>
            </a:avLst>
          </a:prstGeom>
          <a:solidFill>
            <a:srgbClr val="1A2336"/>
          </a:solidFill>
          <a:ln w="12700">
            <a:solidFill>
              <a:srgbClr val="1A233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93976" y="397764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Redis Cluster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776472" y="3977640"/>
            <a:ext cx="1591056" cy="502920"/>
          </a:xfrm>
          <a:prstGeom prst="roundRect">
            <a:avLst>
              <a:gd name="adj" fmla="val 10909"/>
            </a:avLst>
          </a:prstGeom>
          <a:solidFill>
            <a:srgbClr val="1A2336"/>
          </a:solidFill>
          <a:ln w="12700">
            <a:solidFill>
              <a:srgbClr val="1A233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776472" y="397764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Base L2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Solidity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458968" y="3977640"/>
            <a:ext cx="1591056" cy="502920"/>
          </a:xfrm>
          <a:prstGeom prst="roundRect">
            <a:avLst>
              <a:gd name="adj" fmla="val 10909"/>
            </a:avLst>
          </a:prstGeom>
          <a:solidFill>
            <a:srgbClr val="1A2336"/>
          </a:solidFill>
          <a:ln w="12700">
            <a:solidFill>
              <a:srgbClr val="1A233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58968" y="397764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IPFS+Arweave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141464" y="3977640"/>
            <a:ext cx="1591056" cy="502920"/>
          </a:xfrm>
          <a:prstGeom prst="roundRect">
            <a:avLst>
              <a:gd name="adj" fmla="val 10909"/>
            </a:avLst>
          </a:prstGeom>
          <a:solidFill>
            <a:srgbClr val="1A2336"/>
          </a:solidFill>
          <a:ln w="12700">
            <a:solidFill>
              <a:srgbClr val="1A233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41464" y="397764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LiveKit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WebRTC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37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V-SCORE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GNN · ZK-SBT · 12 Factors → 5 Tiers (0–1000)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600200" cy="1664208"/>
          </a:xfrm>
          <a:prstGeom prst="rect">
            <a:avLst/>
          </a:prstGeom>
          <a:solidFill>
            <a:srgbClr val="1A2336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057400"/>
            <a:ext cx="1508760" cy="256032"/>
          </a:xfrm>
          <a:prstGeom prst="rect">
            <a:avLst/>
          </a:prstGeom>
          <a:solidFill>
            <a:srgbClr val="64748B">
              <a:alpha val="45000"/>
            </a:srgbClr>
          </a:solidFill>
          <a:ln w="12700">
            <a:solidFill>
              <a:srgbClr val="64748B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4323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0–199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993392" y="987552"/>
            <a:ext cx="1600200" cy="1664208"/>
          </a:xfrm>
          <a:prstGeom prst="rect">
            <a:avLst/>
          </a:prstGeom>
          <a:solidFill>
            <a:srgbClr val="1A2336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1801368"/>
            <a:ext cx="1508760" cy="512064"/>
          </a:xfrm>
          <a:prstGeom prst="rect">
            <a:avLst/>
          </a:prstGeom>
          <a:solidFill>
            <a:srgbClr val="22C55E">
              <a:alpha val="45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24323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RISING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93392" y="26517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200–399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712464" y="987552"/>
            <a:ext cx="1600200" cy="1664208"/>
          </a:xfrm>
          <a:prstGeom prst="rect">
            <a:avLst/>
          </a:prstGeom>
          <a:solidFill>
            <a:srgbClr val="1A233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58184" y="1545336"/>
            <a:ext cx="1508760" cy="768096"/>
          </a:xfrm>
          <a:prstGeom prst="rect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24323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STABLE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12464" y="26517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400–649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431536" y="987552"/>
            <a:ext cx="1600200" cy="1664208"/>
          </a:xfrm>
          <a:prstGeom prst="rect">
            <a:avLst/>
          </a:prstGeom>
          <a:solidFill>
            <a:srgbClr val="1A233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77256" y="1289304"/>
            <a:ext cx="1508760" cy="1024128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24323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GUARDIAN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31536" y="26517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650–849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150608" y="987552"/>
            <a:ext cx="1600200" cy="1664208"/>
          </a:xfrm>
          <a:prstGeom prst="rect">
            <a:avLst/>
          </a:prstGeom>
          <a:solidFill>
            <a:srgbClr val="1A2336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96328" y="1033272"/>
            <a:ext cx="1508760" cy="1280160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24323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SOVEREIGN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50608" y="26517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850+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74320" y="2944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</a:rPr>
              <a:t>12 INPUT FACTORS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246120"/>
            <a:ext cx="2103120" cy="301752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461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Post Engagement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468880" y="3246120"/>
            <a:ext cx="2103120" cy="301752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32461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Follower Quality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663440" y="3246120"/>
            <a:ext cx="2103120" cy="301752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2461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Room Participation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858000" y="3246120"/>
            <a:ext cx="2103120" cy="301752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2461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$VIVA Balance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74320" y="3611880"/>
            <a:ext cx="2103120" cy="301752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61188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YouToken MktCap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468880" y="3611880"/>
            <a:ext cx="2103120" cy="301752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361188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TX Volume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663440" y="3611880"/>
            <a:ext cx="2103120" cy="301752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61188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Steps (ZK)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858000" y="3611880"/>
            <a:ext cx="2103120" cy="301752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61188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Active Minutes (ZK)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74320" y="3977640"/>
            <a:ext cx="2103120" cy="301752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97764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Sleep Quality (ZK)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468880" y="3977640"/>
            <a:ext cx="2103120" cy="301752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0" y="397764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Seller Rating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63440" y="3977640"/>
            <a:ext cx="2103120" cy="301752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97764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Prediction Accuracy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858000" y="3977640"/>
            <a:ext cx="2103120" cy="301752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397764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World ID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74320" y="480060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→ GNN computes weighted score → ZK-SBT tier updated on-chain via Iden3 (Groth16) · Redis cache 60s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37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</a:rPr>
              <a:t>BACKEND SERVICES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 Microservices · Rust / Go / Python · Code Snippets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206240" cy="4297680"/>
          </a:xfrm>
          <a:prstGeom prst="rect">
            <a:avLst/>
          </a:prstGeom>
          <a:solidFill>
            <a:srgbClr val="0D111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62179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api-gateway/src/main.rs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877824"/>
            <a:ext cx="4069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#[actix_web::main]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fn main() -&gt; io::Result&lt;()&gt; {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redis = Client::open(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env::var("REDIS_URL").unwrap()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).unwrap();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vscore = reqwest::Client::new();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HttpServer::new(move || {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App::new()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.wrap(JwtMiddleware)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.wrap(RateLimitMiddleware::new(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redis.clone()))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.wrap(VScoreInjectMiddleware::new(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vscore.clone()))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.configure(proxy::configure_routes)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.bind("0.0.0.0:8080")?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.workers(num_cpus::get())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.run()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.await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VScoreInjectMiddleware: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vscore/:userId → X-V-Score header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injected into every proxied request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0" y="594360"/>
            <a:ext cx="420624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62179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vscore/routers/score.py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36592" y="877824"/>
            <a:ext cx="4069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@router.get("/score/{userId}")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get_score(userId: str,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redis=Depends(get_redis),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db=Depends(get_db)):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cached = await redis.get(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f"vscore:{userId}")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cached: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ScoreResponse.parse_raw(cached)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gnn = request.app.state.gnn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await compute_vscore(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gnn, userId, db)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redis.setex(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f"vscore:{userId}", 60, result.json())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result  # tier + rings + score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2697480"/>
            <a:ext cx="4206240" cy="219456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272491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dating/src/main.go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36592" y="2999232"/>
            <a:ext cx="4069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discover(w http.ResponseWriter,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*http.Request) {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 := r.Header.Get("X-User-Id")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vscore,_ := strconv.ParseFloat(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r.Header.Get("X-V-Score"), 64)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lat,_ := strconv.ParseFloat(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r.URL.Query().Get("lat"),64)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lon,_ := strconv.ParseFloat(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r.URL.Query().Get("lon"),64)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pgvector cosine similarity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profiles,_ := db.QueryContext(ctx,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`SELECT * FROM dating_profiles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embedding &lt;=&gt; $1 &lt; 0.5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AND vscore_gate &lt;= $2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ORDER BY embedding &lt;=&gt; $1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LIMIT 20`, embedding, vscore)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json.NewEncoder(w).Encode(profiles)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37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</a:rPr>
              <a:t>SMART CONTRACTS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Base L2 · Solidity 0.8.20 · OpenZeppelin · 5 Contracts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97480" cy="1645920"/>
          </a:xfrm>
          <a:prstGeom prst="rect">
            <a:avLst/>
          </a:prstGeom>
          <a:solidFill>
            <a:srgbClr val="111827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697480" cy="256032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966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VIVAToken.sol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7472" y="125272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ERC-20 · 10B max supply · MINTER_ROLE community rewards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2606040" cy="969264"/>
          </a:xfrm>
          <a:prstGeom prst="rect">
            <a:avLst/>
          </a:prstGeom>
          <a:solidFill>
            <a:srgbClr val="080D1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00200"/>
            <a:ext cx="2532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VIVAToken is ERC20, AccessControl {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uint256 constant MAX_SUPPLY = 10_000_000_000 ether;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bytes32 constant MINTER_ROLE = keccak256("MINTER_ROLE");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mint(address to, uint256 amt,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EarnSource src) external onlyRole(MINTER_ROLE) {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require(totalSupply()+amt &lt;= MAX_SUPPLY);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_mint(to, amt);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emit Minted(to, amt, src);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97480" cy="164592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60120"/>
            <a:ext cx="2697480" cy="256032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9966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YouTokenFactory.sol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73552" y="125272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Bonding curve ERC-20 per user. 5% creator fee on every trade.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46120" y="1572768"/>
            <a:ext cx="2606040" cy="969264"/>
          </a:xfrm>
          <a:prstGeom prst="rect">
            <a:avLst/>
          </a:prstGeom>
          <a:solidFill>
            <a:srgbClr val="080D1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600200"/>
            <a:ext cx="2532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buy(uint256 vivaAmount) external {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uint256 fee = vivaAmount*CREATOR_FEE/10000;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uint256 net = vivaAmount - fee - treasuryFee;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viva.transferFrom(msg.sender, address(this), net);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viva.transferFrom(msg.sender, creator, fee);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uint256 out = _buyTokensForViva(net);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totalSupply += out;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balanceOf[msg.sender] += out;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2697480" cy="164592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960120"/>
            <a:ext cx="2697480" cy="256032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9966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AdMarketplace.sol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99632" y="125272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Ad slots: 70% creator / 20% treasury / 10% attention pool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172200" y="1572768"/>
            <a:ext cx="2606040" cy="969264"/>
          </a:xfrm>
          <a:prstGeom prst="rect">
            <a:avLst/>
          </a:prstGeom>
          <a:solidFill>
            <a:srgbClr val="080D1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600200"/>
            <a:ext cx="2532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approveAd(bytes32 postId) external {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AdSlot storage slot = slots[postId];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require(msg.sender == slot.creator);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uint256 total = slot.bidAmount;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viva.transfer(slot.creator, total*7000/10000);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viva.transfer(treasury, total*2000/10000);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attentionPools[postId] += total*1000/10000;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slot.status = Status.Approved;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417320" y="2743200"/>
            <a:ext cx="3429000" cy="2212848"/>
          </a:xfrm>
          <a:prstGeom prst="rect">
            <a:avLst/>
          </a:prstGeom>
          <a:solidFill>
            <a:srgbClr val="111827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7320" y="2743200"/>
            <a:ext cx="3429000" cy="256032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27797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PredictionMarket.sol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490472" y="3035808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Binary markets. Oracle resolves. 2% platform + 1% creator fee.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463040" y="3355848"/>
            <a:ext cx="3337560" cy="1536192"/>
          </a:xfrm>
          <a:prstGeom prst="rect">
            <a:avLst/>
          </a:prstGeom>
          <a:solidFill>
            <a:srgbClr val="080D1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3383280"/>
            <a:ext cx="32644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bet(uint256 mktId, Outcome outcome,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uint256 amount) external nonReentrant {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Market storage m = markets[mktId];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require(m.status == Status.Open);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require(block.timestamp &lt; m.resolveAt);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viva.transferFrom(msg.sender,address(this),amount);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bets[mktId][msg.sender][outcome] += amount;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if(outcome==Outcome.A) m.poolA+=amount;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m.poolB+=amount;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17720" y="2743200"/>
            <a:ext cx="3429000" cy="2212848"/>
          </a:xfrm>
          <a:prstGeom prst="rect">
            <a:avLst/>
          </a:prstGeom>
          <a:solidFill>
            <a:srgbClr val="111827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2743200"/>
            <a:ext cx="3429000" cy="256032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27797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ZKSBT.sol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90872" y="3035808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ZK-SoulBound Token. Non-transferable. Tier = V-Score tier on-chain.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663440" y="3355848"/>
            <a:ext cx="3337560" cy="1536192"/>
          </a:xfrm>
          <a:prstGeom prst="rect">
            <a:avLst/>
          </a:prstGeom>
          <a:solidFill>
            <a:srgbClr val="080D1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383280"/>
            <a:ext cx="326440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updateTier(address user, uint8 tier,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bytes32 proofHash) external onlyOracle {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_identities[user].tier = tier;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_identities[user].zkProofHash = proofHash;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_identities[user].updatedAt = block.timestamp;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emit TierUpdated(user, tier, proofHash);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transfer() always reverts — soul-bound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37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</a:rPr>
              <a:t>DATABASE SCHEMA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PostgreSQL 15 · TimescaleDB · pgvector · 3 Migrations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103120" cy="1325880"/>
          </a:xfrm>
          <a:prstGeom prst="rect">
            <a:avLst/>
          </a:prstGeom>
          <a:solidFill>
            <a:srgbClr val="1A2336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103120" cy="237744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96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users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38328" y="12344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 UUID PK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38328" y="1399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username TEXT UNIQUE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38328" y="1563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wallet_address TEXT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38328" y="17282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world_id TEXT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38328" y="18928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you_token TEXT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38328" y="20574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is_verified BOOL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496312" y="960120"/>
            <a:ext cx="2103120" cy="1325880"/>
          </a:xfrm>
          <a:prstGeom prst="rect">
            <a:avLst/>
          </a:prstGeom>
          <a:solidFill>
            <a:srgbClr val="1A233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6312" y="960120"/>
            <a:ext cx="2103120" cy="237744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996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vscore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60320" y="12344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user_id UUID PK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560320" y="1399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score FLOAT 0-1000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560320" y="1563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tier TEXT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560320" y="17282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streak_days INT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560320" y="18928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last_computed TS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718304" y="960120"/>
            <a:ext cx="2103120" cy="1325880"/>
          </a:xfrm>
          <a:prstGeom prst="rect">
            <a:avLst/>
          </a:prstGeom>
          <a:solidFill>
            <a:srgbClr val="1A233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18304" y="960120"/>
            <a:ext cx="2103120" cy="237744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996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score_events ★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82312" y="12344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 BIGSERIAL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782312" y="1399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user_id UUID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782312" y="1563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event_type TEXT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82312" y="17282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delta FLOAT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782312" y="18928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metadata JSONB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782312" y="20574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created_at TS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940296" y="960120"/>
            <a:ext cx="2103120" cy="1325880"/>
          </a:xfrm>
          <a:prstGeom prst="rect">
            <a:avLst/>
          </a:prstGeom>
          <a:solidFill>
            <a:srgbClr val="1A233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0296" y="960120"/>
            <a:ext cx="2103120" cy="237744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04304" y="996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messages ★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004304" y="12344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 UUID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7004304" y="1399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conversation_id UUID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7004304" y="1563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sender_id UUID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7004304" y="17282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type TEXT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7004304" y="18928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content TEXT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7004304" y="20574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viva_amount FLOAT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274320" y="2377440"/>
            <a:ext cx="2103120" cy="1325880"/>
          </a:xfrm>
          <a:prstGeom prst="rect">
            <a:avLst/>
          </a:prstGeom>
          <a:solidFill>
            <a:srgbClr val="1A233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2377440"/>
            <a:ext cx="2103120" cy="237744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24140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posts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38328" y="26517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 UUID PK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38328" y="28163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creator_id UUID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338328" y="29809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video_url TEXT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338328" y="3145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ipfs_hash TEXT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338328" y="3310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is_nft BOOL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38328" y="34747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ad_slot_open BOOL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2496312" y="2377440"/>
            <a:ext cx="2103120" cy="1325880"/>
          </a:xfrm>
          <a:prstGeom prst="rect">
            <a:avLst/>
          </a:prstGeom>
          <a:solidFill>
            <a:srgbClr val="1A2336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96312" y="2377440"/>
            <a:ext cx="2103120" cy="237744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0" y="24140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listings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560320" y="26517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 UUID PK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560320" y="28163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seller_id UUID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2560320" y="29809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price_viva FLOAT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560320" y="3145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stock INT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2560320" y="3310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status TEXT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560320" y="34747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search_vector TSVECTOR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718304" y="2377440"/>
            <a:ext cx="2103120" cy="1325880"/>
          </a:xfrm>
          <a:prstGeom prst="rect">
            <a:avLst/>
          </a:prstGeom>
          <a:solidFill>
            <a:srgbClr val="1A233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18304" y="2377440"/>
            <a:ext cx="2103120" cy="237744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82312" y="24140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wallet_tx ★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782312" y="26517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 UUID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782312" y="28163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user_id UUID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4782312" y="29809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type TEXT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4782312" y="3145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amount_viva FLOAT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4782312" y="3310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tx_hash TEXT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4782312" y="34747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chain_id INT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6940296" y="2377440"/>
            <a:ext cx="2103120" cy="1325880"/>
          </a:xfrm>
          <a:prstGeom prst="rect">
            <a:avLst/>
          </a:prstGeom>
          <a:solidFill>
            <a:srgbClr val="1A2336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40296" y="2377440"/>
            <a:ext cx="2103120" cy="237744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04304" y="24140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dating_profiles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004304" y="26517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user_id UUID PK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004304" y="28163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embedding vector(384)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7004304" y="29809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vscore_gate FLOAT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7004304" y="31455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location_lat FLOAT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7004304" y="3310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location_lon FLOAT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274320" y="3794760"/>
            <a:ext cx="2103120" cy="1325880"/>
          </a:xfrm>
          <a:prstGeom prst="rect">
            <a:avLst/>
          </a:prstGeom>
          <a:solidFill>
            <a:srgbClr val="1A2336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3794760"/>
            <a:ext cx="2103120" cy="237744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8328" y="38313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matches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338328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 UUID PK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338328" y="42336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user_a_id UUID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338328" y="43982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user_b_id UUID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338328" y="45628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match_score FLOAT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338328" y="47274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conversation_id UUID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2496312" y="3794760"/>
            <a:ext cx="2103120" cy="1325880"/>
          </a:xfrm>
          <a:prstGeom prst="rect">
            <a:avLst/>
          </a:prstGeom>
          <a:solidFill>
            <a:srgbClr val="1A233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496312" y="3794760"/>
            <a:ext cx="2103120" cy="237744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560320" y="38313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twin_tasks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6032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 UUID PK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2560320" y="42336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user_id UUID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2560320" y="43982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domain TEXT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2560320" y="45628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status TEXT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2560320" y="47274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earned_viva FLOAT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2560320" y="4892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result JSONB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4718304" y="3794760"/>
            <a:ext cx="2103120" cy="1325880"/>
          </a:xfrm>
          <a:prstGeom prst="rect">
            <a:avLst/>
          </a:prstGeom>
          <a:solidFill>
            <a:srgbClr val="1A233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18304" y="3794760"/>
            <a:ext cx="2103120" cy="237744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82312" y="38313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health_sleep ★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4782312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 UUID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4782312" y="42336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user_id UUID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4782312" y="43982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date DATE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4782312" y="45628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sleep_score FLOAT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4782312" y="47274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zk_proof_hash TEXT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4782312" y="4892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(no raw data)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6940296" y="3794760"/>
            <a:ext cx="2103120" cy="1325880"/>
          </a:xfrm>
          <a:prstGeom prst="rect">
            <a:avLst/>
          </a:prstGeom>
          <a:solidFill>
            <a:srgbClr val="1A2336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940296" y="3794760"/>
            <a:ext cx="2103120" cy="237744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004304" y="38313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prediction_bets ★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7004304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 UUID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7004304" y="42336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market_id UUID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7004304" y="43982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user_id UUID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7004304" y="45628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outcome TEXT</a:t>
            </a:r>
            <a:endParaRPr lang="en-US" sz="650" dirty="0"/>
          </a:p>
        </p:txBody>
      </p:sp>
      <p:sp>
        <p:nvSpPr>
          <p:cNvPr id="108" name="Text 106"/>
          <p:cNvSpPr/>
          <p:nvPr/>
        </p:nvSpPr>
        <p:spPr>
          <a:xfrm>
            <a:off x="7004304" y="47274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amount_viva FLOAT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7004304" y="48920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is_winner BOOL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74320" y="482803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★ = TimescaleDB hypertable  |  pgvector ivfflat index on dating_profiles.embedding (cosine, 100 lists)  |  GIN on listings.search_vector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37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</a:rPr>
              <a:t>FEATURE FLOWS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 End-to-End User Journeys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16352" cy="1371600"/>
          </a:xfrm>
          <a:prstGeom prst="rect">
            <a:avLst/>
          </a:prstGeom>
          <a:solidFill>
            <a:srgbClr val="111827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816352" cy="256032"/>
          </a:xfrm>
          <a:prstGeom prst="rect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9669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Onboarding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8328" y="1261872"/>
            <a:ext cx="173736" cy="1737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26187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66928" y="127101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World ID verify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38328" y="1472184"/>
            <a:ext cx="173736" cy="1737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472184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66928" y="148132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Embedded wallet create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8328" y="1682496"/>
            <a:ext cx="173736" cy="1737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168249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66928" y="169164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ZK-SBT issued on-chain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38328" y="1892808"/>
            <a:ext cx="173736" cy="1737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189280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66928" y="190195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V-Score init (seed)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38328" y="2103120"/>
            <a:ext cx="173736" cy="1737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10312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66928" y="211226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$5 referral reward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18688" y="960120"/>
            <a:ext cx="2816352" cy="1371600"/>
          </a:xfrm>
          <a:prstGeom prst="rect">
            <a:avLst/>
          </a:prstGeom>
          <a:solidFill>
            <a:srgbClr val="111827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18688" y="960120"/>
            <a:ext cx="2816352" cy="256032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99669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Attention Reward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82696" y="1261872"/>
            <a:ext cx="173736" cy="173736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126187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11296" y="127101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Open Feed tab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82696" y="1472184"/>
            <a:ext cx="173736" cy="173736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82696" y="1472184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511296" y="148132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Video plays (expo-av)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82696" y="1682496"/>
            <a:ext cx="173736" cy="173736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168249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3511296" y="169164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AttentionRing 0→100%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82696" y="1892808"/>
            <a:ext cx="173736" cy="173736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82696" y="189280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511296" y="190195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POST /attention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82696" y="2103120"/>
            <a:ext cx="173736" cy="173736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82696" y="210312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3511296" y="211226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$VIVA credited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163056" y="960120"/>
            <a:ext cx="2816352" cy="137160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63056" y="960120"/>
            <a:ext cx="2816352" cy="256032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99669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Ad Slot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27064" y="1261872"/>
            <a:ext cx="173736" cy="173736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27064" y="126187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455664" y="127101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Creator opens slot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227064" y="1472184"/>
            <a:ext cx="173736" cy="173736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27064" y="1472184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6455664" y="148132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Advertiser bids $VIVA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227064" y="1682496"/>
            <a:ext cx="173736" cy="173736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27064" y="168249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455664" y="169164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Creator approve/reject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227064" y="1892808"/>
            <a:ext cx="173736" cy="173736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27064" y="189280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455664" y="190195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70% creator · 20% treasury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227064" y="2103120"/>
            <a:ext cx="173736" cy="173736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27064" y="210312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455664" y="211226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10% viewer pool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4320" y="2423160"/>
            <a:ext cx="2816352" cy="1371600"/>
          </a:xfrm>
          <a:prstGeom prst="rect">
            <a:avLst/>
          </a:prstGeom>
          <a:solidFill>
            <a:srgbClr val="111827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4320" y="2423160"/>
            <a:ext cx="2816352" cy="256032"/>
          </a:xfrm>
          <a:prstGeom prst="rect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245973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AI Twin Task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38328" y="2724912"/>
            <a:ext cx="173736" cy="1737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8328" y="272491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66928" y="273405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Trigger domain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38328" y="2935224"/>
            <a:ext cx="173736" cy="1737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8328" y="2935224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66928" y="294436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MetaAgent plans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38328" y="3145536"/>
            <a:ext cx="173736" cy="1737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8328" y="314553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66928" y="315468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TaskAgent executes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38328" y="3355848"/>
            <a:ext cx="173736" cy="1737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8328" y="335584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566928" y="336499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Earn $VIVA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38328" y="3566160"/>
            <a:ext cx="173736" cy="173736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8328" y="356616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566928" y="357530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MetaAgent learns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218688" y="2423160"/>
            <a:ext cx="2816352" cy="1371600"/>
          </a:xfrm>
          <a:prstGeom prst="rect">
            <a:avLst/>
          </a:prstGeom>
          <a:solidFill>
            <a:srgbClr val="111827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18688" y="2423160"/>
            <a:ext cx="2816352" cy="256032"/>
          </a:xfrm>
          <a:prstGeom prst="rect">
            <a:avLst/>
          </a:prstGeom>
          <a:solidFill>
            <a:srgbClr val="EF4444">
              <a:alpha val="35000"/>
            </a:srgbClr>
          </a:solidFill>
          <a:ln w="1270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91840" y="245973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Dating Match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282696" y="2724912"/>
            <a:ext cx="173736" cy="173736"/>
          </a:xfrm>
          <a:prstGeom prst="ellipse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82696" y="272491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3511296" y="273405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Discover (pgvector)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282696" y="2935224"/>
            <a:ext cx="173736" cy="173736"/>
          </a:xfrm>
          <a:prstGeom prst="ellipse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82696" y="2935224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3511296" y="294436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Swipe like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3282696" y="3145536"/>
            <a:ext cx="173736" cy="173736"/>
          </a:xfrm>
          <a:prstGeom prst="ellipse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282696" y="314553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3511296" y="315468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Mutual match?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3282696" y="3355848"/>
            <a:ext cx="173736" cy="173736"/>
          </a:xfrm>
          <a:prstGeom prst="ellipse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82696" y="335584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3511296" y="336499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Push notification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3282696" y="3566160"/>
            <a:ext cx="173736" cy="173736"/>
          </a:xfrm>
          <a:prstGeom prst="ellipse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82696" y="356616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3511296" y="357530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Earn match reward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163056" y="2423160"/>
            <a:ext cx="2816352" cy="1371600"/>
          </a:xfrm>
          <a:prstGeom prst="rect">
            <a:avLst/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63056" y="2423160"/>
            <a:ext cx="2816352" cy="256032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236208" y="245973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YouToken Buy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227064" y="2724912"/>
            <a:ext cx="173736" cy="173736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227064" y="272491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100" name="Text 98"/>
          <p:cNvSpPr/>
          <p:nvPr/>
        </p:nvSpPr>
        <p:spPr>
          <a:xfrm>
            <a:off x="6455664" y="273405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View creator profile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6227064" y="2935224"/>
            <a:ext cx="173736" cy="173736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227064" y="2935224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103" name="Text 101"/>
          <p:cNvSpPr/>
          <p:nvPr/>
        </p:nvSpPr>
        <p:spPr>
          <a:xfrm>
            <a:off x="6455664" y="294436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Check bonding curve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6227064" y="3145536"/>
            <a:ext cx="173736" cy="173736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227064" y="314553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106" name="Text 104"/>
          <p:cNvSpPr/>
          <p:nvPr/>
        </p:nvSpPr>
        <p:spPr>
          <a:xfrm>
            <a:off x="6455664" y="315468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POST youtoken/buy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6227064" y="3355848"/>
            <a:ext cx="173736" cy="173736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227064" y="335584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6455664" y="336499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5% fee → creator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6227064" y="3566160"/>
            <a:ext cx="173736" cy="173736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227064" y="356616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112" name="Text 110"/>
          <p:cNvSpPr/>
          <p:nvPr/>
        </p:nvSpPr>
        <p:spPr>
          <a:xfrm>
            <a:off x="6455664" y="357530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Price increases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274320" y="3886200"/>
            <a:ext cx="2816352" cy="1371600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74320" y="3886200"/>
            <a:ext cx="2816352" cy="256032"/>
          </a:xfrm>
          <a:prstGeom prst="rect">
            <a:avLst/>
          </a:prstGeom>
          <a:solidFill>
            <a:srgbClr val="10B981">
              <a:alpha val="35000"/>
            </a:srgbClr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47472" y="392277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Health ZK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338328" y="4187952"/>
            <a:ext cx="173736" cy="173736"/>
          </a:xfrm>
          <a:prstGeom prst="ellipse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38328" y="418795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118" name="Text 116"/>
          <p:cNvSpPr/>
          <p:nvPr/>
        </p:nvSpPr>
        <p:spPr>
          <a:xfrm>
            <a:off x="566928" y="419709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HealthKit on-device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338328" y="4398264"/>
            <a:ext cx="173736" cy="173736"/>
          </a:xfrm>
          <a:prstGeom prst="ellipse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38328" y="4398264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121" name="Text 119"/>
          <p:cNvSpPr/>
          <p:nvPr/>
        </p:nvSpPr>
        <p:spPr>
          <a:xfrm>
            <a:off x="566928" y="440740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ZK-proof generated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338328" y="4608576"/>
            <a:ext cx="173736" cy="173736"/>
          </a:xfrm>
          <a:prstGeom prst="ellipse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38328" y="460857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124" name="Text 122"/>
          <p:cNvSpPr/>
          <p:nvPr/>
        </p:nvSpPr>
        <p:spPr>
          <a:xfrm>
            <a:off x="566928" y="461772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POST /health/sleep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338328" y="4818888"/>
            <a:ext cx="173736" cy="173736"/>
          </a:xfrm>
          <a:prstGeom prst="ellipse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38328" y="48188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127" name="Text 125"/>
          <p:cNvSpPr/>
          <p:nvPr/>
        </p:nvSpPr>
        <p:spPr>
          <a:xfrm>
            <a:off x="566928" y="482803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Score stored (no raw)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338328" y="5029200"/>
            <a:ext cx="173736" cy="173736"/>
          </a:xfrm>
          <a:prstGeom prst="ellipse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38328" y="502920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130" name="Text 128"/>
          <p:cNvSpPr/>
          <p:nvPr/>
        </p:nvSpPr>
        <p:spPr>
          <a:xfrm>
            <a:off x="566928" y="503834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Ring score updated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3218688" y="3886200"/>
            <a:ext cx="2816352" cy="1371600"/>
          </a:xfrm>
          <a:prstGeom prst="rect">
            <a:avLst/>
          </a:prstGeom>
          <a:solidFill>
            <a:srgbClr val="111827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218688" y="3886200"/>
            <a:ext cx="2816352" cy="256032"/>
          </a:xfrm>
          <a:prstGeom prst="rect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291840" y="392277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Prediction Market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3282696" y="4187952"/>
            <a:ext cx="173736" cy="173736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282696" y="418795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136" name="Text 134"/>
          <p:cNvSpPr/>
          <p:nvPr/>
        </p:nvSpPr>
        <p:spPr>
          <a:xfrm>
            <a:off x="3511296" y="419709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Create market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3282696" y="4398264"/>
            <a:ext cx="173736" cy="173736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282696" y="4398264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139" name="Text 137"/>
          <p:cNvSpPr/>
          <p:nvPr/>
        </p:nvSpPr>
        <p:spPr>
          <a:xfrm>
            <a:off x="3511296" y="440740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Users bet $VIVA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3282696" y="4608576"/>
            <a:ext cx="173736" cy="173736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282696" y="460857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142" name="Text 140"/>
          <p:cNvSpPr/>
          <p:nvPr/>
        </p:nvSpPr>
        <p:spPr>
          <a:xfrm>
            <a:off x="3511296" y="461772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Oracle resolves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3282696" y="4818888"/>
            <a:ext cx="173736" cy="173736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282696" y="48188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145" name="Text 143"/>
          <p:cNvSpPr/>
          <p:nvPr/>
        </p:nvSpPr>
        <p:spPr>
          <a:xfrm>
            <a:off x="3511296" y="482803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2% platform fee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3282696" y="5029200"/>
            <a:ext cx="173736" cy="173736"/>
          </a:xfrm>
          <a:prstGeom prst="ellipse">
            <a:avLst/>
          </a:prstGeom>
          <a:solidFill>
            <a:srgbClr val="06B6D4">
              <a:alpha val="45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282696" y="502920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148" name="Text 146"/>
          <p:cNvSpPr/>
          <p:nvPr/>
        </p:nvSpPr>
        <p:spPr>
          <a:xfrm>
            <a:off x="3511296" y="503834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Winners claim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6163056" y="3886200"/>
            <a:ext cx="2816352" cy="1371600"/>
          </a:xfrm>
          <a:prstGeom prst="rect">
            <a:avLst/>
          </a:prstGeom>
          <a:solidFill>
            <a:srgbClr val="111827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163056" y="3886200"/>
            <a:ext cx="2816352" cy="256032"/>
          </a:xfrm>
          <a:prstGeom prst="rect">
            <a:avLst/>
          </a:prstGeom>
          <a:solidFill>
            <a:srgbClr val="8B5CF6">
              <a:alpha val="35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236208" y="392277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Audio Room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6227064" y="4187952"/>
            <a:ext cx="173736" cy="173736"/>
          </a:xfrm>
          <a:prstGeom prst="ellipse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227064" y="4187952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154" name="Text 152"/>
          <p:cNvSpPr/>
          <p:nvPr/>
        </p:nvSpPr>
        <p:spPr>
          <a:xfrm>
            <a:off x="6455664" y="419709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Create room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6227064" y="4398264"/>
            <a:ext cx="173736" cy="173736"/>
          </a:xfrm>
          <a:prstGeom prst="ellipse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227064" y="4398264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157" name="Text 155"/>
          <p:cNvSpPr/>
          <p:nvPr/>
        </p:nvSpPr>
        <p:spPr>
          <a:xfrm>
            <a:off x="6455664" y="440740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Join (stake gate)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6227064" y="4608576"/>
            <a:ext cx="173736" cy="173736"/>
          </a:xfrm>
          <a:prstGeom prst="ellipse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227064" y="460857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160" name="Text 158"/>
          <p:cNvSpPr/>
          <p:nvPr/>
        </p:nvSpPr>
        <p:spPr>
          <a:xfrm>
            <a:off x="6455664" y="461772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GET LiveKit token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6227064" y="4818888"/>
            <a:ext cx="173736" cy="173736"/>
          </a:xfrm>
          <a:prstGeom prst="ellipse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227064" y="48188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163" name="Text 161"/>
          <p:cNvSpPr/>
          <p:nvPr/>
        </p:nvSpPr>
        <p:spPr>
          <a:xfrm>
            <a:off x="6455664" y="482803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WebRTC connect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6227064" y="5029200"/>
            <a:ext cx="173736" cy="173736"/>
          </a:xfrm>
          <a:prstGeom prst="ellipse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227064" y="502920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166" name="Text 164"/>
          <p:cNvSpPr/>
          <p:nvPr/>
        </p:nvSpPr>
        <p:spPr>
          <a:xfrm>
            <a:off x="6455664" y="503834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Host earns per listener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37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</a:rPr>
              <a:t>AI TWIN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HyperAgent · MetaAgent + TaskAgent · Self-Improving · 6 Domains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536192" cy="713232"/>
          </a:xfrm>
          <a:prstGeom prst="rect">
            <a:avLst/>
          </a:prstGeom>
          <a:solidFill>
            <a:srgbClr val="1A233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User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Request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10512" y="1271016"/>
            <a:ext cx="2743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84832" y="914400"/>
            <a:ext cx="1536192" cy="713232"/>
          </a:xfrm>
          <a:prstGeom prst="rect">
            <a:avLst/>
          </a:prstGeom>
          <a:solidFill>
            <a:srgbClr val="1A2336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914400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MetaAgent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(Orchestrator)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21024" y="1271016"/>
            <a:ext cx="4572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78224" y="914400"/>
            <a:ext cx="1536192" cy="713232"/>
          </a:xfrm>
          <a:prstGeom prst="rect">
            <a:avLst/>
          </a:prstGeom>
          <a:solidFill>
            <a:srgbClr val="1A233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78224" y="914400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TaskAgent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(Executor)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614416" y="1271016"/>
            <a:ext cx="25603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70448" y="914400"/>
            <a:ext cx="1536192" cy="713232"/>
          </a:xfrm>
          <a:prstGeom prst="rect">
            <a:avLst/>
          </a:prstGeom>
          <a:solidFill>
            <a:srgbClr val="1A233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914400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Domain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Action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06640" y="1271016"/>
            <a:ext cx="1645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71232" y="914400"/>
            <a:ext cx="1536192" cy="713232"/>
          </a:xfrm>
          <a:prstGeom prst="rect">
            <a:avLst/>
          </a:prstGeom>
          <a:solidFill>
            <a:srgbClr val="1A233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914400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Earn $VIVA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+ Result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07424" y="1627632"/>
            <a:ext cx="0" cy="347472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52928" y="1975104"/>
            <a:ext cx="6254496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2928" y="1627632"/>
            <a:ext cx="0" cy="347472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926080" y="20116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0B981"/>
                </a:solidFill>
              </a:rPr>
              <a:t>MetaAgent learns from outcome → improves future tasks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4320" y="23957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</a:rPr>
              <a:t>AUTONOMY LEVELS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670048"/>
            <a:ext cx="2816352" cy="658368"/>
          </a:xfrm>
          <a:prstGeom prst="rect">
            <a:avLst/>
          </a:prstGeom>
          <a:solidFill>
            <a:srgbClr val="1A233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706624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SUGGEST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294436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Twin plans · user approves each step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18688" y="2670048"/>
            <a:ext cx="2816352" cy="658368"/>
          </a:xfrm>
          <a:prstGeom prst="rect">
            <a:avLst/>
          </a:prstGeom>
          <a:solidFill>
            <a:srgbClr val="1A23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2706624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SEMI-AUTO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10128" y="294436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Twin executes · notifies result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163056" y="2670048"/>
            <a:ext cx="2816352" cy="658368"/>
          </a:xfrm>
          <a:prstGeom prst="rect">
            <a:avLst/>
          </a:prstGeom>
          <a:solidFill>
            <a:srgbClr val="1A233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2706624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FULL-AUTO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54496" y="294436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Twin runs silently · daily summary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34472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</a:rPr>
              <a:t>6 DOMAINS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3721608"/>
            <a:ext cx="1389888" cy="502920"/>
          </a:xfrm>
          <a:prstGeom prst="roundRect">
            <a:avLst>
              <a:gd name="adj" fmla="val 10909"/>
            </a:avLst>
          </a:prstGeom>
          <a:solidFill>
            <a:srgbClr val="1A2336"/>
          </a:solidFill>
          <a:ln w="12700">
            <a:solidFill>
              <a:srgbClr val="1A23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7216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Commerce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55648" y="3721608"/>
            <a:ext cx="1389888" cy="502920"/>
          </a:xfrm>
          <a:prstGeom prst="roundRect">
            <a:avLst>
              <a:gd name="adj" fmla="val 10909"/>
            </a:avLst>
          </a:prstGeom>
          <a:solidFill>
            <a:srgbClr val="1A2336"/>
          </a:solidFill>
          <a:ln w="12700">
            <a:solidFill>
              <a:srgbClr val="1A23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5648" y="37216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Dating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36976" y="3721608"/>
            <a:ext cx="1389888" cy="502920"/>
          </a:xfrm>
          <a:prstGeom prst="roundRect">
            <a:avLst>
              <a:gd name="adj" fmla="val 10909"/>
            </a:avLst>
          </a:prstGeom>
          <a:solidFill>
            <a:srgbClr val="1A2336"/>
          </a:solidFill>
          <a:ln w="12700">
            <a:solidFill>
              <a:srgbClr val="1A23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36976" y="37216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Food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18304" y="3721608"/>
            <a:ext cx="1389888" cy="502920"/>
          </a:xfrm>
          <a:prstGeom prst="roundRect">
            <a:avLst>
              <a:gd name="adj" fmla="val 10909"/>
            </a:avLst>
          </a:prstGeom>
          <a:solidFill>
            <a:srgbClr val="1A2336"/>
          </a:solidFill>
          <a:ln w="12700">
            <a:solidFill>
              <a:srgbClr val="1A23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37216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Freelance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99632" y="3721608"/>
            <a:ext cx="1389888" cy="502920"/>
          </a:xfrm>
          <a:prstGeom prst="roundRect">
            <a:avLst>
              <a:gd name="adj" fmla="val 10909"/>
            </a:avLst>
          </a:prstGeom>
          <a:solidFill>
            <a:srgbClr val="1A2336"/>
          </a:solidFill>
          <a:ln w="12700">
            <a:solidFill>
              <a:srgbClr val="1A233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37216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Finance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80960" y="3721608"/>
            <a:ext cx="1389888" cy="502920"/>
          </a:xfrm>
          <a:prstGeom prst="roundRect">
            <a:avLst>
              <a:gd name="adj" fmla="val 10909"/>
            </a:avLst>
          </a:prstGeom>
          <a:solidFill>
            <a:srgbClr val="1A2336"/>
          </a:solidFill>
          <a:ln w="12700">
            <a:solidFill>
              <a:srgbClr val="1A233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3721608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Health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315968"/>
            <a:ext cx="8595360" cy="566928"/>
          </a:xfrm>
          <a:prstGeom prst="rect">
            <a:avLst/>
          </a:prstGeom>
          <a:solidFill>
            <a:srgbClr val="080D1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435254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/v1/twin/tasks/trigger {domain:"commerce"} → MetaAgent.plan() → TaskAgent.execute() → earn 2.4 $VIVA → MetaAgent.feedback("commerce", result)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37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</a:rPr>
              <a:t>EARN MECHANICS + TOKENOMICS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$VIVA · 10B Max Supply · 40% Community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3474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977640" y="914400"/>
            <a:ext cx="2423160" cy="694944"/>
          </a:xfrm>
          <a:prstGeom prst="rect">
            <a:avLst/>
          </a:prstGeom>
          <a:solidFill>
            <a:srgbClr val="1A2336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50792" y="9509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</a:rPr>
              <a:t>Attention Reward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050792" y="1161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Shared ad pool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050792" y="13533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Watch post 100%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6492240" y="914400"/>
            <a:ext cx="2423160" cy="694944"/>
          </a:xfrm>
          <a:prstGeom prst="rect">
            <a:avLst/>
          </a:prstGeom>
          <a:solidFill>
            <a:srgbClr val="1A233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65392" y="9509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Ad Revenue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565392" y="1161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70% to creator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565392" y="13533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Approve ad slot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977640" y="1682496"/>
            <a:ext cx="2423160" cy="694944"/>
          </a:xfrm>
          <a:prstGeom prst="rect">
            <a:avLst/>
          </a:prstGeom>
          <a:solidFill>
            <a:srgbClr val="1A233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50792" y="1719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AI Twin Task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050792" y="19293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Varies / domain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050792" y="21214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Twin completes action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492240" y="1682496"/>
            <a:ext cx="2423160" cy="694944"/>
          </a:xfrm>
          <a:prstGeom prst="rect">
            <a:avLst/>
          </a:prstGeom>
          <a:solidFill>
            <a:srgbClr val="1A233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65392" y="1719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Referral (Value Drop)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565392" y="19293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$5 both sides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565392" y="21214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New user joins via link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3977640" y="2450592"/>
            <a:ext cx="2423160" cy="694944"/>
          </a:xfrm>
          <a:prstGeom prst="rect">
            <a:avLst/>
          </a:prstGeom>
          <a:solidFill>
            <a:srgbClr val="1A2336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50792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</a:rPr>
              <a:t>Marketplace Sale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050792" y="2697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97% to seller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050792" y="28895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3% platform fee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6492240" y="2450592"/>
            <a:ext cx="2423160" cy="694944"/>
          </a:xfrm>
          <a:prstGeom prst="rect">
            <a:avLst/>
          </a:prstGeom>
          <a:solidFill>
            <a:srgbClr val="1A2336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65392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5CF6"/>
                </a:solidFill>
              </a:rPr>
              <a:t>Health Streak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565392" y="2697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Bonus $VIVA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565392" y="28895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7-day biometric log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3977640" y="3218688"/>
            <a:ext cx="2423160" cy="694944"/>
          </a:xfrm>
          <a:prstGeom prst="rect">
            <a:avLst/>
          </a:prstGeom>
          <a:solidFill>
            <a:srgbClr val="1A233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050792" y="32552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Room Host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050792" y="34655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listeners × time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050792" y="3657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Per audio session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492240" y="3218688"/>
            <a:ext cx="2423160" cy="694944"/>
          </a:xfrm>
          <a:prstGeom prst="rect">
            <a:avLst/>
          </a:prstGeom>
          <a:solidFill>
            <a:srgbClr val="1A2336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65392" y="32552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Dating Match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6565392" y="34655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V-Score mult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565392" y="3657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On mutual match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3977640" y="3986784"/>
            <a:ext cx="2423160" cy="694944"/>
          </a:xfrm>
          <a:prstGeom prst="rect">
            <a:avLst/>
          </a:prstGeom>
          <a:solidFill>
            <a:srgbClr val="1A233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50792" y="4023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YouToken Gain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050792" y="42336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Passive income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4050792" y="44256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Creator token price up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6492240" y="3986784"/>
            <a:ext cx="2423160" cy="694944"/>
          </a:xfrm>
          <a:prstGeom prst="rect">
            <a:avLst/>
          </a:prstGeom>
          <a:solidFill>
            <a:srgbClr val="1A2336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65392" y="4023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</a:rPr>
              <a:t>Prediction Win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6565392" y="42336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Pool share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6565392" y="44256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Correct outcome × stake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274320" y="4315968"/>
            <a:ext cx="8595360" cy="566928"/>
          </a:xfrm>
          <a:prstGeom prst="rect">
            <a:avLst/>
          </a:prstGeom>
          <a:solidFill>
            <a:srgbClr val="1A233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11480" y="43525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10B MAX SUPPLY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1783080" y="4425696"/>
            <a:ext cx="0" cy="329184"/>
          </a:xfrm>
          <a:prstGeom prst="line">
            <a:avLst/>
          </a:prstGeom>
          <a:noFill/>
          <a:ln w="10160">
            <a:solidFill>
              <a:srgbClr val="1E2D4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847088" y="43525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40% Community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3218688" y="4425696"/>
            <a:ext cx="0" cy="329184"/>
          </a:xfrm>
          <a:prstGeom prst="line">
            <a:avLst/>
          </a:prstGeom>
          <a:noFill/>
          <a:ln w="10160">
            <a:solidFill>
              <a:srgbClr val="1E2D4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282696" y="43525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$5 Referral Both Sides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4654296" y="4425696"/>
            <a:ext cx="0" cy="329184"/>
          </a:xfrm>
          <a:prstGeom prst="line">
            <a:avLst/>
          </a:prstGeom>
          <a:noFill/>
          <a:ln w="10160">
            <a:solidFill>
              <a:srgbClr val="1E2D4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718304" y="43525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70% Ad → Creator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6089904" y="4425696"/>
            <a:ext cx="0" cy="329184"/>
          </a:xfrm>
          <a:prstGeom prst="line">
            <a:avLst/>
          </a:prstGeom>
          <a:noFill/>
          <a:ln w="10160">
            <a:solidFill>
              <a:srgbClr val="1E2D4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153912" y="43525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5% YouToken Creator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7525512" y="4425696"/>
            <a:ext cx="0" cy="329184"/>
          </a:xfrm>
          <a:prstGeom prst="line">
            <a:avLst/>
          </a:prstGeom>
          <a:noFill/>
          <a:ln w="10160">
            <a:solidFill>
              <a:srgbClr val="1E2D4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589520" y="43525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ERC-20 · Base L2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37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</a:rPr>
              <a:t>DEPLOYMENT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AWS EKS · Kubernetes · Helm · Docker · Cloudflare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36576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5669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Cloudflare  (DNS · DDoS · CDN · WebSocket Proxy)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05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AWS EKS — Kubernetes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280160"/>
            <a:ext cx="1609344" cy="493776"/>
          </a:xfrm>
          <a:prstGeom prst="rect">
            <a:avLst/>
          </a:prstGeom>
          <a:solidFill>
            <a:srgbClr val="1A2336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167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api-gateway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15361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×3 pods  2CPU 2GB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084832" y="1280160"/>
            <a:ext cx="1609344" cy="493776"/>
          </a:xfrm>
          <a:prstGeom prst="rect">
            <a:avLst/>
          </a:prstGeom>
          <a:solidFill>
            <a:srgbClr val="1A2336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9696" y="13167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messenger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39696" y="15361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×3 pods  1CPU 1GB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785616" y="1280160"/>
            <a:ext cx="1609344" cy="493776"/>
          </a:xfrm>
          <a:prstGeom prst="rect">
            <a:avLst/>
          </a:prstGeom>
          <a:solidFill>
            <a:srgbClr val="1A2336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3167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social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840480" y="15361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×3 pods  1CPU 1GB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486400" y="1280160"/>
            <a:ext cx="1609344" cy="493776"/>
          </a:xfrm>
          <a:prstGeom prst="rect">
            <a:avLst/>
          </a:prstGeom>
          <a:solidFill>
            <a:srgbClr val="1A2336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13167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marketplace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541264" y="15361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×2 pods  1CPU 1GB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7187184" y="1280160"/>
            <a:ext cx="1609344" cy="493776"/>
          </a:xfrm>
          <a:prstGeom prst="rect">
            <a:avLst/>
          </a:prstGeom>
          <a:solidFill>
            <a:srgbClr val="1A2336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42048" y="13167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finance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242048" y="15361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×2 pods  2CPU 2GB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84048" y="1847088"/>
            <a:ext cx="1609344" cy="493776"/>
          </a:xfrm>
          <a:prstGeom prst="rect">
            <a:avLst/>
          </a:prstGeom>
          <a:solidFill>
            <a:srgbClr val="1A2336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18836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vscore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38912" y="21031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×2 pods  4CPU 8GB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084832" y="1847088"/>
            <a:ext cx="1609344" cy="493776"/>
          </a:xfrm>
          <a:prstGeom prst="rect">
            <a:avLst/>
          </a:prstGeom>
          <a:solidFill>
            <a:srgbClr val="1A2336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39696" y="18836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twin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139696" y="21031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×2 pods  4CPU 8GB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785616" y="1847088"/>
            <a:ext cx="1609344" cy="493776"/>
          </a:xfrm>
          <a:prstGeom prst="rect">
            <a:avLst/>
          </a:prstGeom>
          <a:solidFill>
            <a:srgbClr val="1A2336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18836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health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840480" y="21031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×2 pods  1CPU 1GB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486400" y="1847088"/>
            <a:ext cx="1609344" cy="493776"/>
          </a:xfrm>
          <a:prstGeom prst="rect">
            <a:avLst/>
          </a:prstGeom>
          <a:solidFill>
            <a:srgbClr val="1A2336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41264" y="18836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dating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541264" y="21031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×2 pods  2CPU 2GB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74320" y="2962656"/>
            <a:ext cx="8595360" cy="384048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296265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AWS RDS (PostgreSQL+TimescaleDB)  ·  ElastiCache Redis  ·  LiveKit Cloud  ·  Base L2 RPC  ·  IPFS (Pinata)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419856"/>
            <a:ext cx="8595360" cy="1463040"/>
          </a:xfrm>
          <a:prstGeom prst="rect">
            <a:avLst/>
          </a:prstGeom>
          <a:solidFill>
            <a:srgbClr val="080D1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447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4A3B8"/>
                </a:solidFill>
              </a:rPr>
              <a:t>QUICK START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84048" y="367588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docker-compose up -d postgres redis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84048" y="3840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psql $DATABASE_URL -f database/migrations/001_init.sql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84048" y="40050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psql $DATABASE_URL -f database/migrations/002_marketplace_finance.sql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84048" y="4169664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psql $DATABASE_URL -f database/migrations/003_health_dating_rooms.sql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84048" y="433425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docker-compose up                                    # all 10 services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84048" y="44988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apps/mobile &amp;&amp; npm install &amp;&amp; npx expo start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84048" y="4663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forge script script/Deploy.s.sol --rpc-url https://mainnet.base.org --broadcast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37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API REFERENCE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REST + WebSocket · All Endpoints · Error Codes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21792"/>
            <a:ext cx="2816352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21792"/>
            <a:ext cx="2816352" cy="237744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64922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V-Score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7472" y="91440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GET /v1/vscore/score/:userId  →  {score,tier,rings}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47472" y="128016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GET /v1/vscore/score/:userId/rings  →  5-ring breakdown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7472" y="164592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/v1/vscore/score/:userId/event  →  push delta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18688" y="621792"/>
            <a:ext cx="2816352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621792"/>
            <a:ext cx="2816352" cy="237744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64922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Social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0" y="91440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GET /v1/social/feed?cursor  →  FeedPost[]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91840" y="128016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/v1/social/posts/:id/attention  →  earn $VIVA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91840" y="164592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/v1/social/posts/:id/mint  →  NFT on Base L2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91840" y="201168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/v1/social/posts/:id/ad-slot  →  open slot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163056" y="621792"/>
            <a:ext cx="2816352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621792"/>
            <a:ext cx="2816352" cy="237744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64922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Finance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36208" y="91440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GET /v1/wallet/balance  →  {vivaBalance,earnedToday}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36208" y="128016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/v1/wallet/send  →  on-chain transfer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236208" y="164592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/v1/wallet/youtoken/buy/:id  →  bonding curve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236208" y="201168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/v1/wallet/youtoken/sell/:id  →  redeem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4320" y="2176272"/>
            <a:ext cx="2816352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176272"/>
            <a:ext cx="2816352" cy="237744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20370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AI Twin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7472" y="246888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/v1/twin/tasks/trigger {domain}  →  queue task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47472" y="283464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/v1/twin/tasks/:id/approve  →  execute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7472" y="320040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PUT /v1/twin/autonomy {level}  →  suggest|semi|auto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218688" y="2176272"/>
            <a:ext cx="2816352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18688" y="2176272"/>
            <a:ext cx="2816352" cy="237744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220370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Dating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91840" y="246888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GET /v1/dating/discover?lat&amp;lon&amp;maxKm  →  profiles[]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291840" y="283464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/v1/dating/swipe/like/:userId  →  check match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291840" y="320040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GET /v1/dating/matches  →  {match, conversationId}[]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163056" y="2176272"/>
            <a:ext cx="2816352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63056" y="2176272"/>
            <a:ext cx="2816352" cy="237744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220370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Health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36208" y="246888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/v1/health/sleep {zkProof}  →  store hash+score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36208" y="283464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/v1/health/activity {zkProof}  →  ring update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236208" y="320040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GET /v1/health/summary  →  {sleep,activity,nutrition}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74320" y="3730752"/>
            <a:ext cx="2816352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3730752"/>
            <a:ext cx="2816352" cy="237744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75818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Rooms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47472" y="402336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/v1/rooms  →  create + LiveKit room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47472" y="438912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/v1/rooms/:id/join  →  stake+vscore gate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47472" y="475488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GET /v1/rooms/:id/token  →  LiveKit JWT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18688" y="3730752"/>
            <a:ext cx="2816352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18688" y="3730752"/>
            <a:ext cx="2816352" cy="237744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375818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Predictions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91840" y="402336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/v1/predictions/markets  →  createMarket on-chain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91840" y="438912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/v1/predictions/markets/:id/bet  →  lock $VIVA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91840" y="475488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/v1/predictions/markets/:id/claim  →  winnings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163056" y="3730752"/>
            <a:ext cx="2816352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63056" y="3730752"/>
            <a:ext cx="2816352" cy="237744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36208" y="375818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Messenger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236208" y="402336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GET /v1/messenger/conversations  →  list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236208" y="438912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WS /v1/messenger/ws/:convId  →  real-time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236208" y="475488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→ POST /v1/messenger/conversations/:id/tip  →  $VIVA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solidFill>
            <a:srgbClr val="1A233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7472" y="4791456"/>
            <a:ext cx="1609344" cy="256032"/>
          </a:xfrm>
          <a:prstGeom prst="roundRect">
            <a:avLst>
              <a:gd name="adj" fmla="val 2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472" y="479145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UNAUTHORIZED 401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048256" y="4791456"/>
            <a:ext cx="1609344" cy="256032"/>
          </a:xfrm>
          <a:prstGeom prst="roundRect">
            <a:avLst>
              <a:gd name="adj" fmla="val 2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48256" y="479145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VSCORE_TOO_LOW 403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749040" y="4791456"/>
            <a:ext cx="1609344" cy="256032"/>
          </a:xfrm>
          <a:prstGeom prst="roundRect">
            <a:avLst>
              <a:gd name="adj" fmla="val 2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49040" y="479145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RATE_LIMITED 429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449824" y="4791456"/>
            <a:ext cx="1609344" cy="256032"/>
          </a:xfrm>
          <a:prstGeom prst="roundRect">
            <a:avLst>
              <a:gd name="adj" fmla="val 2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49824" y="479145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NOT_FOUND 404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150608" y="4791456"/>
            <a:ext cx="1609344" cy="256032"/>
          </a:xfrm>
          <a:prstGeom prst="roundRect">
            <a:avLst>
              <a:gd name="adj" fmla="val 2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50608" y="479145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INSUFFICIENT_BALANCE 400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VIVA — Life Operating System Architecture</dc:title>
  <dc:subject>PptxGenJS Presentation</dc:subject>
  <dc:creator>PptxGenJS</dc:creator>
  <cp:lastModifiedBy>PptxGenJS</cp:lastModifiedBy>
  <cp:revision>1</cp:revision>
  <dcterms:created xsi:type="dcterms:W3CDTF">2026-06-09T01:53:50Z</dcterms:created>
  <dcterms:modified xsi:type="dcterms:W3CDTF">2026-06-09T01:53:50Z</dcterms:modified>
</cp:coreProperties>
</file>